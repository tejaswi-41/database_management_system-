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63" r:id="rId4"/>
    <p:sldId id="278" r:id="rId5"/>
    <p:sldId id="260" r:id="rId6"/>
    <p:sldId id="264" r:id="rId7"/>
    <p:sldId id="273" r:id="rId8"/>
    <p:sldId id="265" r:id="rId9"/>
    <p:sldId id="274" r:id="rId10"/>
    <p:sldId id="275" r:id="rId11"/>
    <p:sldId id="276" r:id="rId12"/>
    <p:sldId id="266" r:id="rId13"/>
    <p:sldId id="267" r:id="rId14"/>
    <p:sldId id="277" r:id="rId15"/>
    <p:sldId id="262" r:id="rId16"/>
    <p:sldId id="269" r:id="rId17"/>
    <p:sldId id="268" r:id="rId18"/>
    <p:sldId id="270" r:id="rId19"/>
    <p:sldId id="271" r:id="rId20"/>
    <p:sldId id="272" r:id="rId21"/>
  </p:sldIdLst>
  <p:sldSz cx="18288000" cy="10287000"/>
  <p:notesSz cx="6858000" cy="9144000"/>
  <p:embeddedFontLst>
    <p:embeddedFont>
      <p:font typeface="Times New Roman Bold" panose="02020803070505020304" pitchFamily="18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08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descr="$PPTXTitle"/>
          <p:cNvSpPr txBox="1"/>
          <p:nvPr/>
        </p:nvSpPr>
        <p:spPr>
          <a:xfrm>
            <a:off x="2114074" y="3129898"/>
            <a:ext cx="14448063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CSA0501 - DATABASE MANAGEMENT SYSTEMS</a:t>
            </a:r>
            <a:endParaRPr lang="en-US" sz="48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59601" y="4288383"/>
            <a:ext cx="17368798" cy="1580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3"/>
              </a:lnSpc>
            </a:pPr>
            <a:r>
              <a:rPr lang="en-US" sz="48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Iot</a:t>
            </a: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Based </a:t>
            </a:r>
            <a:r>
              <a:rPr lang="en-US" sz="48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Smark</a:t>
            </a: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Parking Management System  Using </a:t>
            </a:r>
          </a:p>
          <a:p>
            <a:pPr algn="ctr">
              <a:lnSpc>
                <a:spcPts val="6393"/>
              </a:lnSpc>
            </a:pPr>
            <a:r>
              <a:rPr lang="en-US" sz="48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</a:t>
            </a: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Modeling And Relational Database Design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14074" y="6417831"/>
            <a:ext cx="5734526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PRESENTED BY</a:t>
            </a:r>
            <a:r>
              <a:rPr lang="en-US" sz="2800" spc="-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:</a:t>
            </a:r>
          </a:p>
          <a:p>
            <a:pPr algn="l">
              <a:lnSpc>
                <a:spcPct val="150000"/>
              </a:lnSpc>
            </a:pPr>
            <a:r>
              <a:rPr lang="en-US" sz="2800" spc="-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P. Jessica Hephzbah(192511425)</a:t>
            </a:r>
          </a:p>
          <a:p>
            <a:pPr algn="l">
              <a:lnSpc>
                <a:spcPct val="150000"/>
              </a:lnSpc>
            </a:pPr>
            <a:r>
              <a:rPr lang="en-US" sz="2800" spc="-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K. Tejaswi(192525407)</a:t>
            </a:r>
          </a:p>
          <a:p>
            <a:pPr algn="l">
              <a:lnSpc>
                <a:spcPct val="150000"/>
              </a:lnSpc>
            </a:pPr>
            <a:r>
              <a:rPr lang="en-US" sz="2800" spc="-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S. Swetha(192565101) 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506201" y="6408306"/>
            <a:ext cx="4634902" cy="11718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GUIDED BY: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Dr. Jaya Mabel Rani</a:t>
            </a:r>
          </a:p>
        </p:txBody>
      </p:sp>
      <p:sp>
        <p:nvSpPr>
          <p:cNvPr id="8" name="Freeform 12"/>
          <p:cNvSpPr/>
          <p:nvPr/>
        </p:nvSpPr>
        <p:spPr>
          <a:xfrm>
            <a:off x="1447800" y="419100"/>
            <a:ext cx="14935200" cy="1905000"/>
          </a:xfrm>
          <a:custGeom>
            <a:avLst/>
            <a:gdLst/>
            <a:ahLst/>
            <a:cxnLst/>
            <a:rect l="l" t="t" r="r" b="b"/>
            <a:pathLst>
              <a:path w="11979380" h="1452500">
                <a:moveTo>
                  <a:pt x="0" y="0"/>
                </a:moveTo>
                <a:lnTo>
                  <a:pt x="11979379" y="0"/>
                </a:lnTo>
                <a:lnTo>
                  <a:pt x="11979379" y="1452500"/>
                </a:lnTo>
                <a:lnTo>
                  <a:pt x="0" y="145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 descr="$PPTXTitle"/>
          <p:cNvSpPr txBox="1"/>
          <p:nvPr/>
        </p:nvSpPr>
        <p:spPr>
          <a:xfrm>
            <a:off x="2659347" y="822874"/>
            <a:ext cx="12969307" cy="70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spc="-15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52600" y="2765973"/>
            <a:ext cx="16306799" cy="5337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called the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Smart Parking Management System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drivers find empty parking slots using sensors and a database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an empty slot by hand is slow and causes traffic jams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uses IR sensors and an ESP32 chip to check if a slot is empty or full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 is sent to a database in real time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 app shows users which slots are free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covers: system design, database design, hardware setup, and results</a:t>
            </a:r>
          </a:p>
          <a:p>
            <a:pPr marL="410208" lvl="1" algn="just">
              <a:lnSpc>
                <a:spcPct val="150000"/>
              </a:lnSpc>
            </a:pP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4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3117" y="5456"/>
            <a:ext cx="2125912" cy="2015895"/>
          </a:xfrm>
          <a:prstGeom prst="rect">
            <a:avLst/>
          </a:prstGeom>
        </p:spPr>
      </p:pic>
      <p:pic>
        <p:nvPicPr>
          <p:cNvPr id="5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58500" y="11648"/>
            <a:ext cx="2957209" cy="19430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 descr="$PPTXTitle"/>
          <p:cNvSpPr txBox="1"/>
          <p:nvPr/>
        </p:nvSpPr>
        <p:spPr>
          <a:xfrm>
            <a:off x="2209801" y="822874"/>
            <a:ext cx="13418854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spc="-15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STATEMENTS AND 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09801" y="1954747"/>
            <a:ext cx="14117805" cy="8568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 waste time searching for empty parking slots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searching adds to traffic jams near parking areas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staff track slots by hand, which leads to mistakes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way to check slot status from outside the parking area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system that checks parking slots using IoT sensors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ER model and database to store parking data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slot status to the database in real time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free slots to users through a web app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time and effort needed to find parking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81708" lvl="1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4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3117" y="5456"/>
            <a:ext cx="2125912" cy="2015895"/>
          </a:xfrm>
          <a:prstGeom prst="rect">
            <a:avLst/>
          </a:prstGeom>
        </p:spPr>
      </p:pic>
      <p:pic>
        <p:nvPicPr>
          <p:cNvPr id="5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58500" y="11648"/>
            <a:ext cx="2957209" cy="194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721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D3A48-D3CD-5E89-601A-8C31E4FE7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 descr="$PPTXTitle">
            <a:extLst>
              <a:ext uri="{FF2B5EF4-FFF2-40B4-BE49-F238E27FC236}">
                <a16:creationId xmlns:a16="http://schemas.microsoft.com/office/drawing/2014/main" id="{D2D7CB6B-8B9E-124D-376F-69399154C570}"/>
              </a:ext>
            </a:extLst>
          </p:cNvPr>
          <p:cNvSpPr txBox="1"/>
          <p:nvPr/>
        </p:nvSpPr>
        <p:spPr>
          <a:xfrm>
            <a:off x="2209801" y="822874"/>
            <a:ext cx="13418854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spc="-15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3B88F9B-6E10-8A2D-D692-A41CE45A22D4}"/>
              </a:ext>
            </a:extLst>
          </p:cNvPr>
          <p:cNvSpPr txBox="1"/>
          <p:nvPr/>
        </p:nvSpPr>
        <p:spPr>
          <a:xfrm>
            <a:off x="2749779" y="3162300"/>
            <a:ext cx="14117805" cy="4690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IoT-based smart parking management system.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ER model and relational database for parking data.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monitor parking slots in real time using IoT sensors.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parking availability through a web application.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parking efficiency and reduce manual effort.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81708" lvl="1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4" name="object 8">
            <a:extLst>
              <a:ext uri="{FF2B5EF4-FFF2-40B4-BE49-F238E27FC236}">
                <a16:creationId xmlns:a16="http://schemas.microsoft.com/office/drawing/2014/main" id="{FA1F2966-EB9E-0240-C891-6C68A47EA03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3117" y="5456"/>
            <a:ext cx="2125912" cy="2015895"/>
          </a:xfrm>
          <a:prstGeom prst="rect">
            <a:avLst/>
          </a:prstGeom>
        </p:spPr>
      </p:pic>
      <p:pic>
        <p:nvPicPr>
          <p:cNvPr id="5" name="object 9">
            <a:extLst>
              <a:ext uri="{FF2B5EF4-FFF2-40B4-BE49-F238E27FC236}">
                <a16:creationId xmlns:a16="http://schemas.microsoft.com/office/drawing/2014/main" id="{7B81A5C5-AF92-EB8B-5A02-A10D87B8E90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58500" y="11648"/>
            <a:ext cx="2957209" cy="194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8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 descr="$PPTXTitle"/>
          <p:cNvSpPr txBox="1"/>
          <p:nvPr/>
        </p:nvSpPr>
        <p:spPr>
          <a:xfrm>
            <a:off x="1143000" y="571501"/>
            <a:ext cx="14446601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spc="-15" dirty="0">
                <a:solidFill>
                  <a:srgbClr val="000000"/>
                </a:solidFill>
                <a:latin typeface="Times New Roman Bold" panose="02020803070505020304" pitchFamily="18" charset="0"/>
                <a:ea typeface="Times New Roman Bold"/>
                <a:cs typeface="Times New Roman Bold" panose="02020803070505020304" pitchFamily="18" charset="0"/>
                <a:sym typeface="Times New Roman Bold"/>
              </a:rPr>
              <a:t>EXISTING SYSTEM AND PROPOSED</a:t>
            </a:r>
          </a:p>
          <a:p>
            <a:pPr algn="ctr">
              <a:lnSpc>
                <a:spcPts val="5759"/>
              </a:lnSpc>
            </a:pPr>
            <a:r>
              <a:rPr lang="en-US" sz="4800" b="1" spc="-15" dirty="0">
                <a:solidFill>
                  <a:srgbClr val="000000"/>
                </a:solidFill>
                <a:latin typeface="Times New Roman Bold" panose="02020803070505020304" pitchFamily="18" charset="0"/>
                <a:ea typeface="Times New Roman Bold"/>
                <a:cs typeface="Times New Roman Bold" panose="02020803070505020304" pitchFamily="18" charset="0"/>
                <a:sym typeface="Times New Roman Bold"/>
              </a:rPr>
              <a:t>SYSTEMS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12795" y="2587396"/>
            <a:ext cx="16342995" cy="6629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staff check slots by walking around or using cameras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way to know slot status without checking in person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delays, human error, and traffic near the gate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sensors detect if a slot is empty or full, automatically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sends this data to a database over Wi-Fi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 shows live slot status to any user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the need for manual checking</a:t>
            </a:r>
          </a:p>
          <a:p>
            <a:pPr marL="711835" lvl="1" indent="-355918" algn="just">
              <a:lnSpc>
                <a:spcPct val="150000"/>
              </a:lnSpc>
              <a:buFont typeface="Arial"/>
              <a:buChar char="•"/>
            </a:pPr>
            <a:endParaRPr lang="en-US" sz="4000" spc="-19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4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98659" y="0"/>
            <a:ext cx="2717050" cy="2352675"/>
          </a:xfrm>
          <a:prstGeom prst="rect">
            <a:avLst/>
          </a:prstGeom>
        </p:spPr>
      </p:pic>
      <p:pic>
        <p:nvPicPr>
          <p:cNvPr id="5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3117" y="5456"/>
            <a:ext cx="2125912" cy="2015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 descr="$PPTXTitle"/>
          <p:cNvSpPr txBox="1"/>
          <p:nvPr/>
        </p:nvSpPr>
        <p:spPr>
          <a:xfrm>
            <a:off x="1143000" y="571501"/>
            <a:ext cx="14446601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spc="-15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Circuit Diagram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2926480"/>
            <a:ext cx="16342995" cy="812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11835" lvl="1" indent="-355918" algn="just">
              <a:lnSpc>
                <a:spcPct val="150000"/>
              </a:lnSpc>
              <a:buFont typeface="Arial"/>
              <a:buChar char="•"/>
            </a:pPr>
            <a:endParaRPr lang="en-US" sz="4000" spc="-19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4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98659" y="0"/>
            <a:ext cx="2717050" cy="2352675"/>
          </a:xfrm>
          <a:prstGeom prst="rect">
            <a:avLst/>
          </a:prstGeom>
        </p:spPr>
      </p:pic>
      <p:pic>
        <p:nvPicPr>
          <p:cNvPr id="5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3117" y="5456"/>
            <a:ext cx="2125912" cy="20158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963806"/>
            <a:ext cx="8009937" cy="63948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7C1FB9-66B5-42A9-63B3-027A539C7AD9}"/>
              </a:ext>
            </a:extLst>
          </p:cNvPr>
          <p:cNvSpPr txBox="1"/>
          <p:nvPr/>
        </p:nvSpPr>
        <p:spPr>
          <a:xfrm>
            <a:off x="9982200" y="3332841"/>
            <a:ext cx="7345864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how the ESP32, IR sensors, servo motor, LCD, LEDs, and buzzer are connected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is the main controller — all parts connect to it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sensors send slot status to the ESP32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controls the LCD, LEDs, buzzer, and gate motor based on that status</a:t>
            </a:r>
          </a:p>
        </p:txBody>
      </p:sp>
    </p:spTree>
    <p:extLst>
      <p:ext uri="{BB962C8B-B14F-4D97-AF65-F5344CB8AC3E}">
        <p14:creationId xmlns:p14="http://schemas.microsoft.com/office/powerpoint/2010/main" val="991356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CC1FFE-ABD0-54A4-6C6F-ED02FD475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21351"/>
            <a:ext cx="11353800" cy="7465549"/>
          </a:xfrm>
          <a:prstGeom prst="rect">
            <a:avLst/>
          </a:prstGeom>
        </p:spPr>
      </p:pic>
      <p:sp>
        <p:nvSpPr>
          <p:cNvPr id="7" name="TextBox 6" descr="$PPTXTitle">
            <a:extLst>
              <a:ext uri="{FF2B5EF4-FFF2-40B4-BE49-F238E27FC236}">
                <a16:creationId xmlns:a16="http://schemas.microsoft.com/office/drawing/2014/main" id="{95695637-0412-F0C2-43B0-BA7223447457}"/>
              </a:ext>
            </a:extLst>
          </p:cNvPr>
          <p:cNvSpPr txBox="1"/>
          <p:nvPr/>
        </p:nvSpPr>
        <p:spPr>
          <a:xfrm>
            <a:off x="1143000" y="571501"/>
            <a:ext cx="14446601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48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SYSTEM ARCHITECTURE</a:t>
            </a:r>
          </a:p>
        </p:txBody>
      </p:sp>
      <p:pic>
        <p:nvPicPr>
          <p:cNvPr id="9" name="object 8">
            <a:extLst>
              <a:ext uri="{FF2B5EF4-FFF2-40B4-BE49-F238E27FC236}">
                <a16:creationId xmlns:a16="http://schemas.microsoft.com/office/drawing/2014/main" id="{5FAD24DB-15BB-CC63-CA00-FF72D6441E4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3117" y="5456"/>
            <a:ext cx="2125912" cy="2015895"/>
          </a:xfrm>
          <a:prstGeom prst="rect">
            <a:avLst/>
          </a:prstGeom>
        </p:spPr>
      </p:pic>
      <p:pic>
        <p:nvPicPr>
          <p:cNvPr id="11" name="object 9">
            <a:extLst>
              <a:ext uri="{FF2B5EF4-FFF2-40B4-BE49-F238E27FC236}">
                <a16:creationId xmlns:a16="http://schemas.microsoft.com/office/drawing/2014/main" id="{16BBEA8B-25F3-1A78-8683-CCE843DA8E4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98659" y="0"/>
            <a:ext cx="2717050" cy="23526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465E13-A9C5-17EE-A98C-4EDC9356B7FB}"/>
              </a:ext>
            </a:extLst>
          </p:cNvPr>
          <p:cNvSpPr txBox="1"/>
          <p:nvPr/>
        </p:nvSpPr>
        <p:spPr>
          <a:xfrm>
            <a:off x="12192000" y="2926340"/>
            <a:ext cx="5791200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sensors check each parking slot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collects this data and sends it over Wi-Fi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the database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 reads the database and shows free slots to the user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sees live parking status on their phone or screen</a:t>
            </a:r>
          </a:p>
        </p:txBody>
      </p:sp>
    </p:spTree>
    <p:extLst>
      <p:ext uri="{BB962C8B-B14F-4D97-AF65-F5344CB8AC3E}">
        <p14:creationId xmlns:p14="http://schemas.microsoft.com/office/powerpoint/2010/main" val="961778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 descr="$PPTXTitle"/>
          <p:cNvSpPr txBox="1"/>
          <p:nvPr/>
        </p:nvSpPr>
        <p:spPr>
          <a:xfrm>
            <a:off x="1143000" y="571501"/>
            <a:ext cx="14446601" cy="716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COMPONETS USED </a:t>
            </a:r>
            <a:endParaRPr lang="en-US" sz="4800" b="1" spc="-15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38200" y="2552700"/>
            <a:ext cx="16342995" cy="812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11835" lvl="1" indent="-355918" algn="just">
              <a:lnSpc>
                <a:spcPct val="150000"/>
              </a:lnSpc>
              <a:buFont typeface="Arial"/>
              <a:buChar char="•"/>
            </a:pPr>
            <a:endParaRPr lang="en-US" sz="4000" spc="-19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4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98659" y="0"/>
            <a:ext cx="2717050" cy="2352675"/>
          </a:xfrm>
          <a:prstGeom prst="rect">
            <a:avLst/>
          </a:prstGeom>
        </p:spPr>
      </p:pic>
      <p:pic>
        <p:nvPicPr>
          <p:cNvPr id="5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3117" y="5456"/>
            <a:ext cx="2125912" cy="2015895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594681"/>
              </p:ext>
            </p:extLst>
          </p:nvPr>
        </p:nvGraphicFramePr>
        <p:xfrm>
          <a:off x="1904999" y="2021351"/>
          <a:ext cx="14097001" cy="793860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19401">
                  <a:extLst>
                    <a:ext uri="{9D8B030D-6E8A-4147-A177-3AD203B41FA5}">
                      <a16:colId xmlns:a16="http://schemas.microsoft.com/office/drawing/2014/main" val="2562296199"/>
                    </a:ext>
                  </a:extLst>
                </a:gridCol>
                <a:gridCol w="3903785">
                  <a:extLst>
                    <a:ext uri="{9D8B030D-6E8A-4147-A177-3AD203B41FA5}">
                      <a16:colId xmlns:a16="http://schemas.microsoft.com/office/drawing/2014/main" val="4099003978"/>
                    </a:ext>
                  </a:extLst>
                </a:gridCol>
                <a:gridCol w="7373815">
                  <a:extLst>
                    <a:ext uri="{9D8B030D-6E8A-4147-A177-3AD203B41FA5}">
                      <a16:colId xmlns:a16="http://schemas.microsoft.com/office/drawing/2014/main" val="1521368420"/>
                    </a:ext>
                  </a:extLst>
                </a:gridCol>
              </a:tblGrid>
              <a:tr h="450954">
                <a:tc>
                  <a:txBody>
                    <a:bodyPr/>
                    <a:lstStyle/>
                    <a:p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marL="64657" marR="64657" marT="32328" marB="323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</a:t>
                      </a:r>
                    </a:p>
                  </a:txBody>
                  <a:tcPr marL="64657" marR="64657" marT="32328" marB="32328" anchor="ctr"/>
                </a:tc>
                <a:tc>
                  <a:txBody>
                    <a:bodyPr/>
                    <a:lstStyle/>
                    <a:p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64657" marR="64657" marT="32328" marB="32328" anchor="ctr"/>
                </a:tc>
                <a:extLst>
                  <a:ext uri="{0D108BD9-81ED-4DB2-BD59-A6C34878D82A}">
                    <a16:rowId xmlns:a16="http://schemas.microsoft.com/office/drawing/2014/main" val="1935593952"/>
                  </a:ext>
                </a:extLst>
              </a:tr>
              <a:tr h="891604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 Microcontroller</a:t>
                      </a:r>
                    </a:p>
                  </a:txBody>
                  <a:tcPr marL="64657" marR="64657" marT="32328" marB="323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4657" marR="64657" marT="32328" marB="32328" anchor="ctr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Controls the system and sends sensor data via Wi-Fi</a:t>
                      </a:r>
                    </a:p>
                  </a:txBody>
                  <a:tcPr marL="64657" marR="64657" marT="32328" marB="32328" anchor="ctr"/>
                </a:tc>
                <a:extLst>
                  <a:ext uri="{0D108BD9-81ED-4DB2-BD59-A6C34878D82A}">
                    <a16:rowId xmlns:a16="http://schemas.microsoft.com/office/drawing/2014/main" val="1267152219"/>
                  </a:ext>
                </a:extLst>
              </a:tr>
              <a:tr h="891604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 Sensors</a:t>
                      </a:r>
                    </a:p>
                  </a:txBody>
                  <a:tcPr marL="64657" marR="64657" marT="32328" marB="323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4657" marR="64657" marT="32328" marB="32328" anchor="ctr"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whether each parking slot is occupied or vacant</a:t>
                      </a:r>
                    </a:p>
                  </a:txBody>
                  <a:tcPr marL="64657" marR="64657" marT="32328" marB="32328" anchor="ctr"/>
                </a:tc>
                <a:extLst>
                  <a:ext uri="{0D108BD9-81ED-4DB2-BD59-A6C34878D82A}">
                    <a16:rowId xmlns:a16="http://schemas.microsoft.com/office/drawing/2014/main" val="2439186445"/>
                  </a:ext>
                </a:extLst>
              </a:tr>
              <a:tr h="842573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Servo Motor</a:t>
                      </a:r>
                    </a:p>
                  </a:txBody>
                  <a:tcPr marL="64657" marR="64657" marT="32328" marB="323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4657" marR="64657" marT="32328" marB="32328" anchor="ctr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Automates the parking gate opening and closing</a:t>
                      </a:r>
                    </a:p>
                  </a:txBody>
                  <a:tcPr marL="64657" marR="64657" marT="32328" marB="32328" anchor="ctr"/>
                </a:tc>
                <a:extLst>
                  <a:ext uri="{0D108BD9-81ED-4DB2-BD59-A6C34878D82A}">
                    <a16:rowId xmlns:a16="http://schemas.microsoft.com/office/drawing/2014/main" val="4257576026"/>
                  </a:ext>
                </a:extLst>
              </a:tr>
              <a:tr h="842573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LCD 16×2 with I2C</a:t>
                      </a:r>
                    </a:p>
                  </a:txBody>
                  <a:tcPr marL="64657" marR="64657" marT="32328" marB="323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4657" marR="64657" marT="32328" marB="32328" anchor="ctr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Displays the number of available parking slots</a:t>
                      </a:r>
                    </a:p>
                  </a:txBody>
                  <a:tcPr marL="64657" marR="64657" marT="32328" marB="32328" anchor="ctr"/>
                </a:tc>
                <a:extLst>
                  <a:ext uri="{0D108BD9-81ED-4DB2-BD59-A6C34878D82A}">
                    <a16:rowId xmlns:a16="http://schemas.microsoft.com/office/drawing/2014/main" val="493208989"/>
                  </a:ext>
                </a:extLst>
              </a:tr>
              <a:tr h="842573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LEDs (Red/Green)</a:t>
                      </a:r>
                    </a:p>
                  </a:txBody>
                  <a:tcPr marL="64657" marR="64657" marT="32328" marB="323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4657" marR="64657" marT="32328" marB="32328" anchor="ctr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Indicate the status of each parking slot</a:t>
                      </a:r>
                    </a:p>
                  </a:txBody>
                  <a:tcPr marL="64657" marR="64657" marT="32328" marB="32328" anchor="ctr"/>
                </a:tc>
                <a:extLst>
                  <a:ext uri="{0D108BD9-81ED-4DB2-BD59-A6C34878D82A}">
                    <a16:rowId xmlns:a16="http://schemas.microsoft.com/office/drawing/2014/main" val="2335514602"/>
                  </a:ext>
                </a:extLst>
              </a:tr>
              <a:tr h="842573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Buzzer</a:t>
                      </a:r>
                    </a:p>
                  </a:txBody>
                  <a:tcPr marL="64657" marR="64657" marT="32328" marB="323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4657" marR="64657" marT="32328" marB="32328" anchor="ctr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Alerts when a vehicle enters the parking area</a:t>
                      </a:r>
                    </a:p>
                  </a:txBody>
                  <a:tcPr marL="64657" marR="64657" marT="32328" marB="32328" anchor="ctr"/>
                </a:tc>
                <a:extLst>
                  <a:ext uri="{0D108BD9-81ED-4DB2-BD59-A6C34878D82A}">
                    <a16:rowId xmlns:a16="http://schemas.microsoft.com/office/drawing/2014/main" val="1272767568"/>
                  </a:ext>
                </a:extLst>
              </a:tr>
              <a:tr h="842573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Breadboard</a:t>
                      </a:r>
                    </a:p>
                  </a:txBody>
                  <a:tcPr marL="64657" marR="64657" marT="32328" marB="323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4657" marR="64657" marT="32328" marB="32328" anchor="ctr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 platform for circuit connections</a:t>
                      </a:r>
                    </a:p>
                  </a:txBody>
                  <a:tcPr marL="64657" marR="64657" marT="32328" marB="32328" anchor="ctr"/>
                </a:tc>
                <a:extLst>
                  <a:ext uri="{0D108BD9-81ED-4DB2-BD59-A6C34878D82A}">
                    <a16:rowId xmlns:a16="http://schemas.microsoft.com/office/drawing/2014/main" val="3670435876"/>
                  </a:ext>
                </a:extLst>
              </a:tr>
              <a:tr h="623561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Jumper Wires</a:t>
                      </a:r>
                    </a:p>
                  </a:txBody>
                  <a:tcPr marL="64657" marR="64657" marT="32328" marB="323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</a:t>
                      </a:r>
                    </a:p>
                  </a:txBody>
                  <a:tcPr marL="64657" marR="64657" marT="32328" marB="32328" anchor="ctr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 electronic components</a:t>
                      </a:r>
                    </a:p>
                  </a:txBody>
                  <a:tcPr marL="64657" marR="64657" marT="32328" marB="32328" anchor="ctr"/>
                </a:tc>
                <a:extLst>
                  <a:ext uri="{0D108BD9-81ED-4DB2-BD59-A6C34878D82A}">
                    <a16:rowId xmlns:a16="http://schemas.microsoft.com/office/drawing/2014/main" val="2135435672"/>
                  </a:ext>
                </a:extLst>
              </a:tr>
              <a:tr h="623561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USB Cable</a:t>
                      </a:r>
                    </a:p>
                  </a:txBody>
                  <a:tcPr marL="64657" marR="64657" marT="32328" marB="323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4657" marR="64657" marT="32328" marB="32328" anchor="ctr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Powers and programs the ESP32</a:t>
                      </a:r>
                    </a:p>
                  </a:txBody>
                  <a:tcPr marL="64657" marR="64657" marT="32328" marB="32328" anchor="ctr"/>
                </a:tc>
                <a:extLst>
                  <a:ext uri="{0D108BD9-81ED-4DB2-BD59-A6C34878D82A}">
                    <a16:rowId xmlns:a16="http://schemas.microsoft.com/office/drawing/2014/main" val="133511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0537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6AC34-F23C-F884-54BC-42DAE432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 descr="$PPTXTitle">
            <a:extLst>
              <a:ext uri="{FF2B5EF4-FFF2-40B4-BE49-F238E27FC236}">
                <a16:creationId xmlns:a16="http://schemas.microsoft.com/office/drawing/2014/main" id="{A22D217C-2C14-04D2-7138-7E7D147DCDC0}"/>
              </a:ext>
            </a:extLst>
          </p:cNvPr>
          <p:cNvSpPr txBox="1"/>
          <p:nvPr/>
        </p:nvSpPr>
        <p:spPr>
          <a:xfrm>
            <a:off x="1447800" y="876300"/>
            <a:ext cx="148590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4800" dirty="0"/>
              <a:t>   </a:t>
            </a:r>
            <a:r>
              <a:rPr lang="en-IN" sz="44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ER Diagram</a:t>
            </a:r>
          </a:p>
        </p:txBody>
      </p:sp>
      <p:pic>
        <p:nvPicPr>
          <p:cNvPr id="4" name="object 9">
            <a:extLst>
              <a:ext uri="{FF2B5EF4-FFF2-40B4-BE49-F238E27FC236}">
                <a16:creationId xmlns:a16="http://schemas.microsoft.com/office/drawing/2014/main" id="{DD697C12-F21D-26A7-154A-91AFF372A51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98659" y="0"/>
            <a:ext cx="2717050" cy="2352675"/>
          </a:xfrm>
          <a:prstGeom prst="rect">
            <a:avLst/>
          </a:prstGeom>
        </p:spPr>
      </p:pic>
      <p:pic>
        <p:nvPicPr>
          <p:cNvPr id="5" name="object 8">
            <a:extLst>
              <a:ext uri="{FF2B5EF4-FFF2-40B4-BE49-F238E27FC236}">
                <a16:creationId xmlns:a16="http://schemas.microsoft.com/office/drawing/2014/main" id="{67E93D37-18E1-486F-74D9-E42829DE2B9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3117" y="5456"/>
            <a:ext cx="2125912" cy="20158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1AB3C9-EAC1-5CBB-472C-EC8232F54D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87880"/>
            <a:ext cx="11049000" cy="7315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85E2C7-2DC1-31CD-4F71-CDEED5336C75}"/>
              </a:ext>
            </a:extLst>
          </p:cNvPr>
          <p:cNvSpPr txBox="1"/>
          <p:nvPr/>
        </p:nvSpPr>
        <p:spPr>
          <a:xfrm>
            <a:off x="11887200" y="3009900"/>
            <a:ext cx="5867400" cy="647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how User, Vehicle,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ParkingSlot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ParkingRecord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Sensor connect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user can own many vehicles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parking event is tracked through a Parking Record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slot has a sensor that updates its status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base for the tables shown in the next slide</a:t>
            </a:r>
          </a:p>
        </p:txBody>
      </p:sp>
    </p:spTree>
    <p:extLst>
      <p:ext uri="{BB962C8B-B14F-4D97-AF65-F5344CB8AC3E}">
        <p14:creationId xmlns:p14="http://schemas.microsoft.com/office/powerpoint/2010/main" val="2699162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0AAFB-5D71-13CF-38E3-C3AAA51E7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 descr="$PPTXTitle">
            <a:extLst>
              <a:ext uri="{FF2B5EF4-FFF2-40B4-BE49-F238E27FC236}">
                <a16:creationId xmlns:a16="http://schemas.microsoft.com/office/drawing/2014/main" id="{4E683556-0E8C-0A53-9556-C4429628D339}"/>
              </a:ext>
            </a:extLst>
          </p:cNvPr>
          <p:cNvSpPr txBox="1"/>
          <p:nvPr/>
        </p:nvSpPr>
        <p:spPr>
          <a:xfrm>
            <a:off x="1019359" y="837783"/>
            <a:ext cx="14859000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44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Relational Schema</a:t>
            </a:r>
          </a:p>
        </p:txBody>
      </p:sp>
      <p:pic>
        <p:nvPicPr>
          <p:cNvPr id="4" name="object 9">
            <a:extLst>
              <a:ext uri="{FF2B5EF4-FFF2-40B4-BE49-F238E27FC236}">
                <a16:creationId xmlns:a16="http://schemas.microsoft.com/office/drawing/2014/main" id="{D35D0168-70B3-1AE6-0C5E-7AEF7E14A2D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98659" y="0"/>
            <a:ext cx="2717050" cy="2352675"/>
          </a:xfrm>
          <a:prstGeom prst="rect">
            <a:avLst/>
          </a:prstGeom>
        </p:spPr>
      </p:pic>
      <p:pic>
        <p:nvPicPr>
          <p:cNvPr id="5" name="object 8">
            <a:extLst>
              <a:ext uri="{FF2B5EF4-FFF2-40B4-BE49-F238E27FC236}">
                <a16:creationId xmlns:a16="http://schemas.microsoft.com/office/drawing/2014/main" id="{B2599CFB-BE49-BFC2-A622-68D9FDDF5BE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3117" y="5456"/>
            <a:ext cx="2125912" cy="20158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73DF22-6193-9CA4-457C-C40CA8EC2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171700"/>
            <a:ext cx="15316200" cy="754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556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CEFF2-9086-FEA3-C41F-60DC65704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 descr="$PPTXTitle">
            <a:extLst>
              <a:ext uri="{FF2B5EF4-FFF2-40B4-BE49-F238E27FC236}">
                <a16:creationId xmlns:a16="http://schemas.microsoft.com/office/drawing/2014/main" id="{BF9BE036-2D4C-306C-422E-70CEE68DEC91}"/>
              </a:ext>
            </a:extLst>
          </p:cNvPr>
          <p:cNvSpPr txBox="1"/>
          <p:nvPr/>
        </p:nvSpPr>
        <p:spPr>
          <a:xfrm>
            <a:off x="1143000" y="571501"/>
            <a:ext cx="14446601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spc="-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Normalization 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E63A725-06D8-B38F-DD57-C9CC65B5AD3A}"/>
              </a:ext>
            </a:extLst>
          </p:cNvPr>
          <p:cNvSpPr txBox="1"/>
          <p:nvPr/>
        </p:nvSpPr>
        <p:spPr>
          <a:xfrm>
            <a:off x="2514600" y="2352675"/>
            <a:ext cx="16342995" cy="72760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normalization?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that organizes data to avoid repeating the same information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Splits one large table into smaller, related tables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data consistent and saves storage space</a:t>
            </a:r>
          </a:p>
          <a:p>
            <a:pPr lvl="0">
              <a:lnSpc>
                <a:spcPct val="150000"/>
              </a:lnSpc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 used it in our project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normalization, owner name and slot details would repeat in every parking record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split this into separate tables: User, Vehicle,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ParkingSlot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ParkingRecord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piece of data is stored only once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are linked using foreign keys instead of repeating data</a:t>
            </a:r>
          </a:p>
          <a:p>
            <a:pPr marL="711835" lvl="1" indent="-355918" algn="just">
              <a:lnSpc>
                <a:spcPct val="150000"/>
              </a:lnSpc>
              <a:buFont typeface="Arial"/>
              <a:buChar char="•"/>
            </a:pPr>
            <a:endParaRPr lang="en-US" sz="4000" spc="-19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4" name="object 9">
            <a:extLst>
              <a:ext uri="{FF2B5EF4-FFF2-40B4-BE49-F238E27FC236}">
                <a16:creationId xmlns:a16="http://schemas.microsoft.com/office/drawing/2014/main" id="{10AC135E-65EB-84CF-6BFC-26014BFFF07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98659" y="0"/>
            <a:ext cx="2717050" cy="2352675"/>
          </a:xfrm>
          <a:prstGeom prst="rect">
            <a:avLst/>
          </a:prstGeom>
        </p:spPr>
      </p:pic>
      <p:pic>
        <p:nvPicPr>
          <p:cNvPr id="5" name="object 8">
            <a:extLst>
              <a:ext uri="{FF2B5EF4-FFF2-40B4-BE49-F238E27FC236}">
                <a16:creationId xmlns:a16="http://schemas.microsoft.com/office/drawing/2014/main" id="{FEC3AB1B-3672-7FE0-A218-033252A8784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3117" y="5456"/>
            <a:ext cx="2125912" cy="201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59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 descr="$PPTXTitle"/>
          <p:cNvSpPr txBox="1"/>
          <p:nvPr/>
        </p:nvSpPr>
        <p:spPr>
          <a:xfrm>
            <a:off x="1295400" y="662345"/>
            <a:ext cx="14446601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it-IT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Hardware &amp; IoT Data Acquisition</a:t>
            </a:r>
            <a:endParaRPr lang="en-US" sz="4800" b="1" spc="-15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752600" y="2781300"/>
            <a:ext cx="16342995" cy="5983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sensors detect whether each parking slot is occupied or vacant.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 collects and processes sensor data.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data is transmitted to the database via Wi-Fi.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16×2 displays the number of available parking slots.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LEDs indicate the status of each parking slot (Green – Vacant, Red – Occupied).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motor automatically opens and closes the parking gate.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provides an alert when a vehicle enters the parking area.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monitoring of parking slot availability.</a:t>
            </a:r>
          </a:p>
          <a:p>
            <a:pPr marL="711835" lvl="1" indent="-355918" algn="just">
              <a:lnSpc>
                <a:spcPct val="150000"/>
              </a:lnSpc>
              <a:buFont typeface="Arial"/>
              <a:buChar char="•"/>
            </a:pPr>
            <a:endParaRPr lang="en-US" sz="4000" spc="-19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4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98659" y="0"/>
            <a:ext cx="2717050" cy="2352675"/>
          </a:xfrm>
          <a:prstGeom prst="rect">
            <a:avLst/>
          </a:prstGeom>
        </p:spPr>
      </p:pic>
      <p:pic>
        <p:nvPicPr>
          <p:cNvPr id="5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3117" y="5456"/>
            <a:ext cx="2125912" cy="201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663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 descr="$PPTXTitle"/>
          <p:cNvSpPr txBox="1"/>
          <p:nvPr/>
        </p:nvSpPr>
        <p:spPr>
          <a:xfrm>
            <a:off x="1580197" y="666834"/>
            <a:ext cx="14859000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Database Management </a:t>
            </a:r>
            <a:endParaRPr lang="en-US" sz="4800" b="1" spc="-15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752600" y="3009900"/>
            <a:ext cx="10972800" cy="584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real-time slot status sent by the ESP32 over Wi-Fi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in 5 tables: User, Vehicle,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ParkingSlot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ParkingRecord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Sensor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ParkingSlot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status automatically whenever a sensor value changes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new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ParkingRecord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time a vehicle enters, with entry time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the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ParkingRecord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exit time when the vehicle leaves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foreign keys to keep Vehicle, User, and Slot data linked correctly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data that the web application reads and displays to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98659" y="0"/>
            <a:ext cx="2717050" cy="2352675"/>
          </a:xfrm>
          <a:prstGeom prst="rect">
            <a:avLst/>
          </a:prstGeom>
        </p:spPr>
      </p:pic>
      <p:pic>
        <p:nvPicPr>
          <p:cNvPr id="5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3117" y="5456"/>
            <a:ext cx="2125912" cy="201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6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BE763-2490-FC06-DC88-689C65307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 descr="$PPTXTitle">
            <a:extLst>
              <a:ext uri="{FF2B5EF4-FFF2-40B4-BE49-F238E27FC236}">
                <a16:creationId xmlns:a16="http://schemas.microsoft.com/office/drawing/2014/main" id="{1FE45B56-F7C6-0347-BAB9-C9F1D1C0EA90}"/>
              </a:ext>
            </a:extLst>
          </p:cNvPr>
          <p:cNvSpPr txBox="1"/>
          <p:nvPr/>
        </p:nvSpPr>
        <p:spPr>
          <a:xfrm>
            <a:off x="1580197" y="666834"/>
            <a:ext cx="14859000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Web Application</a:t>
            </a:r>
            <a:endParaRPr lang="en-US" sz="4800" b="1" spc="-15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16E3B0B-2A13-65F6-BC92-4962A127A3D4}"/>
              </a:ext>
            </a:extLst>
          </p:cNvPr>
          <p:cNvSpPr txBox="1"/>
          <p:nvPr/>
        </p:nvSpPr>
        <p:spPr>
          <a:xfrm>
            <a:off x="1580197" y="2865953"/>
            <a:ext cx="12268200" cy="4555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to the database to fetch the latest parking slot status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free and occupied slots to the user in real time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Refreshes automatically, so users always see current availability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interface — no manual searching needed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pick a slot before arriving at the parking area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traffic and time wasted looking for parking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9">
            <a:extLst>
              <a:ext uri="{FF2B5EF4-FFF2-40B4-BE49-F238E27FC236}">
                <a16:creationId xmlns:a16="http://schemas.microsoft.com/office/drawing/2014/main" id="{FD92EED1-6774-BA96-1D82-0FF54BA2D67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98659" y="0"/>
            <a:ext cx="2717050" cy="2352675"/>
          </a:xfrm>
          <a:prstGeom prst="rect">
            <a:avLst/>
          </a:prstGeom>
        </p:spPr>
      </p:pic>
      <p:pic>
        <p:nvPicPr>
          <p:cNvPr id="5" name="object 8">
            <a:extLst>
              <a:ext uri="{FF2B5EF4-FFF2-40B4-BE49-F238E27FC236}">
                <a16:creationId xmlns:a16="http://schemas.microsoft.com/office/drawing/2014/main" id="{DB7BD126-744E-9E82-E522-E1FD6C260F7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3117" y="5456"/>
            <a:ext cx="2125912" cy="20158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071066-A8AB-3F14-F93A-498AFAEA60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00" r="29500"/>
          <a:stretch>
            <a:fillRect/>
          </a:stretch>
        </p:blipFill>
        <p:spPr>
          <a:xfrm>
            <a:off x="11430000" y="2476500"/>
            <a:ext cx="6096000" cy="623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038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 descr="$PPTXTitle"/>
          <p:cNvSpPr txBox="1"/>
          <p:nvPr/>
        </p:nvSpPr>
        <p:spPr>
          <a:xfrm>
            <a:off x="2620294" y="1000125"/>
            <a:ext cx="12969307" cy="70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spc="-15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</a:t>
            </a:r>
          </a:p>
        </p:txBody>
      </p:sp>
      <p:pic>
        <p:nvPicPr>
          <p:cNvPr id="4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97201" y="0"/>
            <a:ext cx="2590800" cy="2019300"/>
          </a:xfrm>
          <a:prstGeom prst="rect">
            <a:avLst/>
          </a:prstGeom>
        </p:spPr>
      </p:pic>
      <p:pic>
        <p:nvPicPr>
          <p:cNvPr id="5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3117" y="5456"/>
            <a:ext cx="2125912" cy="20158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E7D8A2-DD84-E77C-7D14-A20DEE8064A8}"/>
              </a:ext>
            </a:extLst>
          </p:cNvPr>
          <p:cNvSpPr txBox="1"/>
          <p:nvPr/>
        </p:nvSpPr>
        <p:spPr>
          <a:xfrm>
            <a:off x="9770865" y="3238500"/>
            <a:ext cx="8001000" cy="5831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 of the web app showing free and occupied slots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 of the LCD display showing number of free slots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 of the hardware setup (ESP32 + sensors + LEDs)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Photo/video frame of the gate opening for a vehicle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 of the database table showing stored records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9FD184-BF02-E8BD-B46F-E1CD61CBEB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3704"/>
          <a:stretch>
            <a:fillRect/>
          </a:stretch>
        </p:blipFill>
        <p:spPr>
          <a:xfrm>
            <a:off x="516135" y="2133600"/>
            <a:ext cx="4208318" cy="762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8BDE09-AD79-4E1A-FDB2-183F94FEE8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82" b="14445"/>
          <a:stretch>
            <a:fillRect/>
          </a:stretch>
        </p:blipFill>
        <p:spPr>
          <a:xfrm>
            <a:off x="5143500" y="2154765"/>
            <a:ext cx="4208318" cy="762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12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 descr="$PPTXTitle"/>
          <p:cNvSpPr txBox="1"/>
          <p:nvPr/>
        </p:nvSpPr>
        <p:spPr>
          <a:xfrm>
            <a:off x="2620294" y="1000125"/>
            <a:ext cx="12969307" cy="70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spc="-15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RESULTS COMPARSION</a:t>
            </a:r>
          </a:p>
        </p:txBody>
      </p:sp>
      <p:pic>
        <p:nvPicPr>
          <p:cNvPr id="4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97201" y="0"/>
            <a:ext cx="2590800" cy="2019300"/>
          </a:xfrm>
          <a:prstGeom prst="rect">
            <a:avLst/>
          </a:prstGeom>
        </p:spPr>
      </p:pic>
      <p:pic>
        <p:nvPicPr>
          <p:cNvPr id="5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3117" y="5456"/>
            <a:ext cx="2125912" cy="2015895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5B952D-58EC-5269-949E-10526EDB1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736075"/>
              </p:ext>
            </p:extLst>
          </p:nvPr>
        </p:nvGraphicFramePr>
        <p:xfrm>
          <a:off x="1866900" y="2019300"/>
          <a:ext cx="14211300" cy="73152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37100">
                  <a:extLst>
                    <a:ext uri="{9D8B030D-6E8A-4147-A177-3AD203B41FA5}">
                      <a16:colId xmlns:a16="http://schemas.microsoft.com/office/drawing/2014/main" val="1421462431"/>
                    </a:ext>
                  </a:extLst>
                </a:gridCol>
                <a:gridCol w="4737100">
                  <a:extLst>
                    <a:ext uri="{9D8B030D-6E8A-4147-A177-3AD203B41FA5}">
                      <a16:colId xmlns:a16="http://schemas.microsoft.com/office/drawing/2014/main" val="2964392953"/>
                    </a:ext>
                  </a:extLst>
                </a:gridCol>
                <a:gridCol w="4737100">
                  <a:extLst>
                    <a:ext uri="{9D8B030D-6E8A-4147-A177-3AD203B41FA5}">
                      <a16:colId xmlns:a16="http://schemas.microsoft.com/office/drawing/2014/main" val="4063369573"/>
                    </a:ext>
                  </a:extLst>
                </a:gridCol>
              </a:tblGrid>
              <a:tr h="1045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Criteria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Manual/Existing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Proposed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4299035"/>
                  </a:ext>
                </a:extLst>
              </a:tr>
              <a:tr h="1045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Slot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checking by staff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via IR sensors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0763885"/>
                  </a:ext>
                </a:extLst>
              </a:tr>
              <a:tr h="1045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to find a slot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Several 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Instant (checked on app)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9637457"/>
                  </a:ext>
                </a:extLst>
              </a:tr>
              <a:tr h="1045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Prone to human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Sensor-based, more accurate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731357"/>
                  </a:ext>
                </a:extLst>
              </a:tr>
              <a:tr h="1045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Yes, live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9354859"/>
                  </a:ext>
                </a:extLst>
              </a:tr>
              <a:tr h="1045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 keeping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Manual/paper-based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Stored in database automatically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184455"/>
                  </a:ext>
                </a:extLst>
              </a:tr>
              <a:tr h="1045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near entrance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(searching cars)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(users know slot in advance)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61786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C54F857-AE2A-C161-FF11-FE607475C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511400"/>
              </p:ext>
            </p:extLst>
          </p:nvPr>
        </p:nvGraphicFramePr>
        <p:xfrm>
          <a:off x="1866900" y="2011677"/>
          <a:ext cx="14211300" cy="7315203"/>
        </p:xfrm>
        <a:graphic>
          <a:graphicData uri="http://schemas.openxmlformats.org/drawingml/2006/table">
            <a:tbl>
              <a:tblPr/>
              <a:tblGrid>
                <a:gridCol w="14211300">
                  <a:extLst>
                    <a:ext uri="{9D8B030D-6E8A-4147-A177-3AD203B41FA5}">
                      <a16:colId xmlns:a16="http://schemas.microsoft.com/office/drawing/2014/main" val="3776220370"/>
                    </a:ext>
                  </a:extLst>
                </a:gridCol>
              </a:tblGrid>
              <a:tr h="731520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07854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07A6A33-486B-DE2C-1068-5048DFCFB14C}"/>
              </a:ext>
            </a:extLst>
          </p:cNvPr>
          <p:cNvGraphicFramePr>
            <a:graphicFrameLocks noGrp="1"/>
          </p:cNvGraphicFramePr>
          <p:nvPr/>
        </p:nvGraphicFramePr>
        <p:xfrm>
          <a:off x="1844040" y="3048000"/>
          <a:ext cx="14218920" cy="6278880"/>
        </p:xfrm>
        <a:graphic>
          <a:graphicData uri="http://schemas.openxmlformats.org/drawingml/2006/table">
            <a:tbl>
              <a:tblPr/>
              <a:tblGrid>
                <a:gridCol w="14218920">
                  <a:extLst>
                    <a:ext uri="{9D8B030D-6E8A-4147-A177-3AD203B41FA5}">
                      <a16:colId xmlns:a16="http://schemas.microsoft.com/office/drawing/2014/main" val="2367218024"/>
                    </a:ext>
                  </a:extLst>
                </a:gridCol>
              </a:tblGrid>
              <a:tr h="627888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6972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F499B66-4CEC-C253-A817-5E699D192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602930"/>
              </p:ext>
            </p:extLst>
          </p:nvPr>
        </p:nvGraphicFramePr>
        <p:xfrm>
          <a:off x="1889760" y="1996437"/>
          <a:ext cx="4724400" cy="7315203"/>
        </p:xfrm>
        <a:graphic>
          <a:graphicData uri="http://schemas.openxmlformats.org/drawingml/2006/table">
            <a:tbl>
              <a:tblPr/>
              <a:tblGrid>
                <a:gridCol w="4724400">
                  <a:extLst>
                    <a:ext uri="{9D8B030D-6E8A-4147-A177-3AD203B41FA5}">
                      <a16:colId xmlns:a16="http://schemas.microsoft.com/office/drawing/2014/main" val="1914642201"/>
                    </a:ext>
                  </a:extLst>
                </a:gridCol>
              </a:tblGrid>
              <a:tr h="731520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68813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DD8B264-2645-8349-480E-6169043E4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258763"/>
              </p:ext>
            </p:extLst>
          </p:nvPr>
        </p:nvGraphicFramePr>
        <p:xfrm>
          <a:off x="6583680" y="2019300"/>
          <a:ext cx="4846320" cy="7277100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1817742414"/>
                    </a:ext>
                  </a:extLst>
                </a:gridCol>
              </a:tblGrid>
              <a:tr h="72771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927201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ED7EAB1-88BA-7FAC-E68F-91A0FA319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185723"/>
              </p:ext>
            </p:extLst>
          </p:nvPr>
        </p:nvGraphicFramePr>
        <p:xfrm>
          <a:off x="11452860" y="1996437"/>
          <a:ext cx="4594860" cy="7345683"/>
        </p:xfrm>
        <a:graphic>
          <a:graphicData uri="http://schemas.openxmlformats.org/drawingml/2006/table">
            <a:tbl>
              <a:tblPr/>
              <a:tblGrid>
                <a:gridCol w="4594860">
                  <a:extLst>
                    <a:ext uri="{9D8B030D-6E8A-4147-A177-3AD203B41FA5}">
                      <a16:colId xmlns:a16="http://schemas.microsoft.com/office/drawing/2014/main" val="3945245637"/>
                    </a:ext>
                  </a:extLst>
                </a:gridCol>
              </a:tblGrid>
              <a:tr h="73456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712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565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 descr="$PPTXTitle"/>
          <p:cNvSpPr txBox="1"/>
          <p:nvPr/>
        </p:nvSpPr>
        <p:spPr>
          <a:xfrm>
            <a:off x="2620294" y="1000125"/>
            <a:ext cx="12969307" cy="70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spc="-15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IEEE STANDARDS</a:t>
            </a:r>
          </a:p>
        </p:txBody>
      </p:sp>
      <p:pic>
        <p:nvPicPr>
          <p:cNvPr id="4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97201" y="0"/>
            <a:ext cx="2590800" cy="2019300"/>
          </a:xfrm>
          <a:prstGeom prst="rect">
            <a:avLst/>
          </a:prstGeom>
        </p:spPr>
      </p:pic>
      <p:pic>
        <p:nvPicPr>
          <p:cNvPr id="5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3117" y="5456"/>
            <a:ext cx="2125912" cy="2015895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61413"/>
              </p:ext>
            </p:extLst>
          </p:nvPr>
        </p:nvGraphicFramePr>
        <p:xfrm>
          <a:off x="1142047" y="2011680"/>
          <a:ext cx="15925800" cy="77266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308600">
                  <a:extLst>
                    <a:ext uri="{9D8B030D-6E8A-4147-A177-3AD203B41FA5}">
                      <a16:colId xmlns:a16="http://schemas.microsoft.com/office/drawing/2014/main" val="675551711"/>
                    </a:ext>
                  </a:extLst>
                </a:gridCol>
                <a:gridCol w="5308600">
                  <a:extLst>
                    <a:ext uri="{9D8B030D-6E8A-4147-A177-3AD203B41FA5}">
                      <a16:colId xmlns:a16="http://schemas.microsoft.com/office/drawing/2014/main" val="3369950626"/>
                    </a:ext>
                  </a:extLst>
                </a:gridCol>
                <a:gridCol w="5308600">
                  <a:extLst>
                    <a:ext uri="{9D8B030D-6E8A-4147-A177-3AD203B41FA5}">
                      <a16:colId xmlns:a16="http://schemas.microsoft.com/office/drawing/2014/main" val="2132125783"/>
                    </a:ext>
                  </a:extLst>
                </a:gridCol>
              </a:tblGrid>
              <a:tr h="522613">
                <a:tc>
                  <a:txBody>
                    <a:bodyPr/>
                    <a:lstStyle/>
                    <a:p>
                      <a:r>
                        <a:rPr lang="en-IN" sz="3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Standard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r>
                        <a:rPr lang="en-IN" sz="3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r>
                        <a:rPr lang="en-IN" sz="3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in the Project</a:t>
                      </a: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3348827554"/>
                  </a:ext>
                </a:extLst>
              </a:tr>
              <a:tr h="1190878">
                <a:tc>
                  <a:txBody>
                    <a:bodyPr/>
                    <a:lstStyle/>
                    <a:p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802.11 (Wi-Fi)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r>
                        <a:rPr lang="en-US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Wireless Local Area Network (WLAN) standard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wireless communication between the ESP32 and the web server/database.</a:t>
                      </a: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83133000"/>
                  </a:ext>
                </a:extLst>
              </a:tr>
              <a:tr h="1190878">
                <a:tc>
                  <a:txBody>
                    <a:bodyPr/>
                    <a:lstStyle/>
                    <a:p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802.3 (Ethernet)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r>
                        <a:rPr lang="en-US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Wired Local Area Network (LAN) standard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r>
                        <a:rPr lang="en-US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wired connectivity for the database server or web application (if required).</a:t>
                      </a: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1864875732"/>
                  </a:ext>
                </a:extLst>
              </a:tr>
              <a:tr h="1190878">
                <a:tc>
                  <a:txBody>
                    <a:bodyPr/>
                    <a:lstStyle/>
                    <a:p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1451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for smart sensors and sensor interfaces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r>
                        <a:rPr lang="en-US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Facilitates communication between IoT sensors and the controller.</a:t>
                      </a: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349477759"/>
                  </a:ext>
                </a:extLst>
              </a:tr>
              <a:tr h="1190878">
                <a:tc>
                  <a:txBody>
                    <a:bodyPr/>
                    <a:lstStyle/>
                    <a:p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2413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r>
                        <a:rPr lang="en-US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architecture for Internet of Things (IoT)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r>
                        <a:rPr lang="en-US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 common framework for designing scalable and interoperable IoT systems.</a:t>
                      </a: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1972807620"/>
                  </a:ext>
                </a:extLst>
              </a:tr>
              <a:tr h="1190878">
                <a:tc>
                  <a:txBody>
                    <a:bodyPr/>
                    <a:lstStyle/>
                    <a:p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830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Requirements Specification (SRS) standard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Defines software requirements for the web application and database design.</a:t>
                      </a: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3040901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3920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 descr="$PPTXTitle"/>
          <p:cNvSpPr txBox="1"/>
          <p:nvPr/>
        </p:nvSpPr>
        <p:spPr>
          <a:xfrm>
            <a:off x="2620294" y="1000125"/>
            <a:ext cx="12969307" cy="70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spc="-15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SDG CONTRIBUTION</a:t>
            </a:r>
          </a:p>
        </p:txBody>
      </p:sp>
      <p:pic>
        <p:nvPicPr>
          <p:cNvPr id="4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97201" y="0"/>
            <a:ext cx="2590800" cy="2019300"/>
          </a:xfrm>
          <a:prstGeom prst="rect">
            <a:avLst/>
          </a:prstGeom>
        </p:spPr>
      </p:pic>
      <p:pic>
        <p:nvPicPr>
          <p:cNvPr id="5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3117" y="5456"/>
            <a:ext cx="2125912" cy="2015895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797458"/>
              </p:ext>
            </p:extLst>
          </p:nvPr>
        </p:nvGraphicFramePr>
        <p:xfrm>
          <a:off x="1295401" y="2552700"/>
          <a:ext cx="15697200" cy="595883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848600">
                  <a:extLst>
                    <a:ext uri="{9D8B030D-6E8A-4147-A177-3AD203B41FA5}">
                      <a16:colId xmlns:a16="http://schemas.microsoft.com/office/drawing/2014/main" val="318401757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1898366000"/>
                    </a:ext>
                  </a:extLst>
                </a:gridCol>
              </a:tblGrid>
              <a:tr h="553553">
                <a:tc>
                  <a:txBody>
                    <a:bodyPr/>
                    <a:lstStyle/>
                    <a:p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 Goal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 to the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28815"/>
                  </a:ext>
                </a:extLst>
              </a:tr>
              <a:tr h="1465288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 9 – Industry, Innovation and 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Promotes smart infrastructure by integrating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technology with database management for efficient parking systems.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4029182"/>
                  </a:ext>
                </a:extLst>
              </a:tr>
              <a:tr h="1465288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 11 – Sustainable Cities and Communities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traffic congestion and improves urban mobility through real-time parking management.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3386910"/>
                  </a:ext>
                </a:extLst>
              </a:tr>
              <a:tr h="1009421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 12 – Responsible Consumption and Production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Optimizes the utilization of parking spaces, minimizing resource wastage.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7505448"/>
                  </a:ext>
                </a:extLst>
              </a:tr>
              <a:tr h="1465288">
                <a:tc>
                  <a:txBody>
                    <a:bodyPr/>
                    <a:lstStyle/>
                    <a:p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 13 – Climate 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fuel consumption and carbon emissions by decreasing the time spent searching for parking spaces.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22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0218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 descr="$PPTXTitle"/>
          <p:cNvSpPr txBox="1"/>
          <p:nvPr/>
        </p:nvSpPr>
        <p:spPr>
          <a:xfrm>
            <a:off x="2420344" y="800100"/>
            <a:ext cx="12969307" cy="70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spc="-15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ADVANTAGES AND LIMITATIONS</a:t>
            </a:r>
          </a:p>
        </p:txBody>
      </p:sp>
      <p:pic>
        <p:nvPicPr>
          <p:cNvPr id="4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97201" y="0"/>
            <a:ext cx="2590800" cy="2019300"/>
          </a:xfrm>
          <a:prstGeom prst="rect">
            <a:avLst/>
          </a:prstGeom>
        </p:spPr>
      </p:pic>
      <p:pic>
        <p:nvPicPr>
          <p:cNvPr id="5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3117" y="5456"/>
            <a:ext cx="2125912" cy="201589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819400" y="2552700"/>
            <a:ext cx="131826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by showing free slots before arriving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traffic caused by searching for parking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accurate records automatically in the database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stable Wi-Fi connection for real-time updates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sensors may give wrong readings if blocked by dust or objects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 designed for a small number of slots, not large parking lots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4600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 descr="$PPTXTitle"/>
          <p:cNvSpPr txBox="1"/>
          <p:nvPr/>
        </p:nvSpPr>
        <p:spPr>
          <a:xfrm>
            <a:off x="2620294" y="1000125"/>
            <a:ext cx="12969307" cy="70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spc="-15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</a:t>
            </a:r>
          </a:p>
        </p:txBody>
      </p:sp>
      <p:pic>
        <p:nvPicPr>
          <p:cNvPr id="4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97201" y="0"/>
            <a:ext cx="2590800" cy="2019300"/>
          </a:xfrm>
          <a:prstGeom prst="rect">
            <a:avLst/>
          </a:prstGeom>
        </p:spPr>
      </p:pic>
      <p:pic>
        <p:nvPicPr>
          <p:cNvPr id="5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3117" y="5456"/>
            <a:ext cx="2125912" cy="201589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438400" y="3019841"/>
            <a:ext cx="12268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builds a smart parking system using IoT sensors and a database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replaces manual slot-checking with automatic, real-time detection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ER model and relational schema keep parking data organized and error-free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 app makes it easy for users to find a free slot instantly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saves time, reduces traffic, and can be expanded to bigger parking areas in the future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3279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55752</TotalTime>
  <Words>1410</Words>
  <Application>Microsoft Office PowerPoint</Application>
  <PresentationFormat>Custom</PresentationFormat>
  <Paragraphs>203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Times New Roman Bold</vt:lpstr>
      <vt:lpstr>Times New Roman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capstne ppt format.pptx</dc:title>
  <dc:creator>Jessica hephzbah</dc:creator>
  <cp:lastModifiedBy>Tejaswi K</cp:lastModifiedBy>
  <cp:revision>23</cp:revision>
  <dcterms:created xsi:type="dcterms:W3CDTF">2006-08-16T00:00:00Z</dcterms:created>
  <dcterms:modified xsi:type="dcterms:W3CDTF">2026-09-03T10:55:29Z</dcterms:modified>
  <dc:identifier>DAHQItrPoIk</dc:identifier>
</cp:coreProperties>
</file>